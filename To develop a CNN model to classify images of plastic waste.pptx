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14" y="-32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683431" y="2813094"/>
            <a:ext cx="6727908" cy="1754326"/>
          </a:xfrm>
          <a:prstGeom prst="rect">
            <a:avLst/>
          </a:prstGeom>
          <a:noFill/>
        </p:spPr>
        <p:txBody>
          <a:bodyPr wrap="square" rtlCol="0">
            <a:spAutoFit/>
          </a:bodyPr>
          <a:lstStyle/>
          <a:p>
            <a:pPr algn="r"/>
            <a:r>
              <a:rPr lang="en-US" sz="3600" b="1" u="sng" dirty="0">
                <a:solidFill>
                  <a:srgbClr val="FF0000"/>
                </a:solidFill>
                <a:effectLst>
                  <a:outerShdw blurRad="38100" dist="38100" dir="2700000" algn="tl">
                    <a:srgbClr val="000000">
                      <a:alpha val="43137"/>
                    </a:srgbClr>
                  </a:outerShdw>
                </a:effectLst>
                <a:latin typeface="Calibri" panose="020F0502020204030204" pitchFamily="34" charset="0"/>
                <a:cs typeface="Times New Roman" panose="02020603050405020304" pitchFamily="18" charset="0"/>
              </a:rPr>
              <a:t>NAME OF THE PROJECT:</a:t>
            </a:r>
          </a:p>
          <a:p>
            <a:pPr algn="r"/>
            <a:r>
              <a:rPr lang="en-US" sz="3600" b="1" dirty="0">
                <a:solidFill>
                  <a:schemeClr val="accent6"/>
                </a:solidFill>
                <a:latin typeface="Calibri" panose="020F0502020204030204" pitchFamily="34" charset="0"/>
                <a:cs typeface="Times New Roman" panose="02020603050405020304" pitchFamily="18" charset="0"/>
              </a:rPr>
              <a:t>To develop a CNN model to classify images of plastic waste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345680" y="1442720"/>
            <a:ext cx="4500880" cy="4632960"/>
          </a:xfrm>
          <a:prstGeom prst="rect">
            <a:avLst/>
          </a:prstGeom>
        </p:spPr>
      </p:pic>
      <p:sp>
        <p:nvSpPr>
          <p:cNvPr id="2" name="TextBox 1">
            <a:extLst>
              <a:ext uri="{FF2B5EF4-FFF2-40B4-BE49-F238E27FC236}">
                <a16:creationId xmlns:a16="http://schemas.microsoft.com/office/drawing/2014/main" id="{B094E319-C77C-49E2-964C-6E125D716194}"/>
              </a:ext>
            </a:extLst>
          </p:cNvPr>
          <p:cNvSpPr txBox="1"/>
          <p:nvPr/>
        </p:nvSpPr>
        <p:spPr>
          <a:xfrm>
            <a:off x="0" y="2245181"/>
            <a:ext cx="8605520" cy="3170099"/>
          </a:xfrm>
          <a:prstGeom prst="rect">
            <a:avLst/>
          </a:prstGeom>
          <a:noFill/>
        </p:spPr>
        <p:txBody>
          <a:bodyPr wrap="square">
            <a:spAutoFit/>
          </a:bodyPr>
          <a:lstStyle/>
          <a:p>
            <a:r>
              <a:rPr lang="en-IN" sz="4000" b="1" u="sng" dirty="0">
                <a:solidFill>
                  <a:srgbClr val="213163"/>
                </a:solidFill>
                <a:effectLst>
                  <a:outerShdw blurRad="38100" dist="38100" dir="2700000" algn="tl">
                    <a:srgbClr val="000000">
                      <a:alpha val="43137"/>
                    </a:srgbClr>
                  </a:outerShdw>
                </a:effectLst>
              </a:rPr>
              <a:t>LEARNING OBJECTIVES:</a:t>
            </a:r>
          </a:p>
          <a:p>
            <a:r>
              <a:rPr lang="en-US" sz="2400" dirty="0"/>
              <a:t>1. Understand the need for </a:t>
            </a:r>
            <a:r>
              <a:rPr lang="en-US" sz="2400" b="1" dirty="0"/>
              <a:t>plastic waste classification</a:t>
            </a:r>
            <a:endParaRPr lang="en-IN" sz="2400" b="1" dirty="0">
              <a:solidFill>
                <a:srgbClr val="213163"/>
              </a:solidFill>
            </a:endParaRPr>
          </a:p>
          <a:p>
            <a:r>
              <a:rPr lang="en-IN" sz="2400" dirty="0">
                <a:solidFill>
                  <a:schemeClr val="tx1">
                    <a:lumMod val="95000"/>
                    <a:lumOff val="5000"/>
                  </a:schemeClr>
                </a:solidFill>
              </a:rPr>
              <a:t>2. </a:t>
            </a:r>
            <a:r>
              <a:rPr lang="en-US" sz="2400" dirty="0"/>
              <a:t>Learn how </a:t>
            </a:r>
            <a:r>
              <a:rPr lang="en-US" sz="2400" b="1" dirty="0"/>
              <a:t>CNNs</a:t>
            </a:r>
            <a:r>
              <a:rPr lang="en-US" sz="2400" dirty="0"/>
              <a:t> help in image classification.</a:t>
            </a:r>
          </a:p>
          <a:p>
            <a:r>
              <a:rPr lang="en-US" sz="2400" dirty="0">
                <a:solidFill>
                  <a:schemeClr val="tx1">
                    <a:lumMod val="95000"/>
                    <a:lumOff val="5000"/>
                  </a:schemeClr>
                </a:solidFill>
              </a:rPr>
              <a:t>3. </a:t>
            </a:r>
            <a:r>
              <a:rPr lang="en-US" sz="2400" dirty="0"/>
              <a:t>Preprocess and </a:t>
            </a:r>
            <a:r>
              <a:rPr lang="en-US" sz="2400" b="1" dirty="0"/>
              <a:t>prepare data</a:t>
            </a:r>
            <a:r>
              <a:rPr lang="en-US" sz="2400" dirty="0"/>
              <a:t> for training.</a:t>
            </a:r>
          </a:p>
          <a:p>
            <a:r>
              <a:rPr lang="en-US" sz="2400" dirty="0">
                <a:solidFill>
                  <a:schemeClr val="tx1">
                    <a:lumMod val="95000"/>
                    <a:lumOff val="5000"/>
                  </a:schemeClr>
                </a:solidFill>
              </a:rPr>
              <a:t>4. </a:t>
            </a:r>
            <a:r>
              <a:rPr lang="en-US" sz="2400" dirty="0"/>
              <a:t>Build and train a </a:t>
            </a:r>
            <a:r>
              <a:rPr lang="en-US" sz="2400" b="1" dirty="0"/>
              <a:t>CNN model</a:t>
            </a:r>
            <a:r>
              <a:rPr lang="en-US" sz="2400" dirty="0"/>
              <a:t> using Python.</a:t>
            </a:r>
          </a:p>
          <a:p>
            <a:r>
              <a:rPr lang="en-US" sz="2400" dirty="0">
                <a:solidFill>
                  <a:schemeClr val="tx1">
                    <a:lumMod val="95000"/>
                    <a:lumOff val="5000"/>
                  </a:schemeClr>
                </a:solidFill>
              </a:rPr>
              <a:t>5. </a:t>
            </a:r>
            <a:r>
              <a:rPr lang="en-US" sz="2400" dirty="0"/>
              <a:t>Evaluate model </a:t>
            </a:r>
            <a:r>
              <a:rPr lang="en-US" sz="2400" b="1" dirty="0"/>
              <a:t>accuracy and performance</a:t>
            </a:r>
            <a:r>
              <a:rPr lang="en-US" sz="2400" dirty="0"/>
              <a:t>.</a:t>
            </a:r>
          </a:p>
          <a:p>
            <a:endParaRPr lang="en-IN" sz="2000" dirty="0">
              <a:solidFill>
                <a:schemeClr val="tx1">
                  <a:lumMod val="95000"/>
                  <a:lumOff val="5000"/>
                </a:schemeClr>
              </a:solidFill>
            </a:endParaRPr>
          </a:p>
          <a:p>
            <a:endParaRPr lang="en-IN" sz="2000" b="1"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1664824"/>
            <a:ext cx="12056166" cy="4708981"/>
          </a:xfrm>
          <a:prstGeom prst="rect">
            <a:avLst/>
          </a:prstGeom>
          <a:noFill/>
        </p:spPr>
        <p:txBody>
          <a:bodyPr wrap="square">
            <a:spAutoFit/>
          </a:bodyPr>
          <a:lstStyle/>
          <a:p>
            <a:r>
              <a:rPr lang="en-US" sz="4800" b="1" u="sng" dirty="0">
                <a:solidFill>
                  <a:srgbClr val="213163"/>
                </a:solidFill>
                <a:effectLst>
                  <a:outerShdw blurRad="38100" dist="38100" dir="2700000" algn="tl">
                    <a:srgbClr val="000000">
                      <a:alpha val="43137"/>
                    </a:srgbClr>
                  </a:outerShdw>
                </a:effectLst>
              </a:rPr>
              <a:t>T</a:t>
            </a:r>
            <a:r>
              <a:rPr lang="en-IN" sz="4800" b="1" u="sng" dirty="0">
                <a:solidFill>
                  <a:srgbClr val="213163"/>
                </a:solidFill>
                <a:effectLst>
                  <a:outerShdw blurRad="38100" dist="38100" dir="2700000" algn="tl">
                    <a:srgbClr val="000000">
                      <a:alpha val="43137"/>
                    </a:srgbClr>
                  </a:outerShdw>
                </a:effectLst>
              </a:rPr>
              <a:t>OOLS AND TECHNOLOGY USED:</a:t>
            </a:r>
          </a:p>
          <a:p>
            <a:pPr marL="457200" indent="-457200">
              <a:buAutoNum type="arabicPeriod"/>
            </a:pPr>
            <a:r>
              <a:rPr lang="en-IN" sz="3600" b="1" dirty="0"/>
              <a:t> Programming Language</a:t>
            </a:r>
            <a:r>
              <a:rPr lang="en-IN" sz="3600" dirty="0"/>
              <a:t>: Python.</a:t>
            </a:r>
          </a:p>
          <a:p>
            <a:pPr marL="514350" indent="-514350">
              <a:buAutoNum type="arabicPeriod"/>
            </a:pPr>
            <a:r>
              <a:rPr lang="en-IN" sz="3600" b="1" dirty="0"/>
              <a:t>Development Environment</a:t>
            </a:r>
            <a:r>
              <a:rPr lang="en-IN" sz="3600" dirty="0"/>
              <a:t>: VS Code &amp; Google </a:t>
            </a:r>
            <a:r>
              <a:rPr lang="en-IN" sz="3600" dirty="0" err="1"/>
              <a:t>Colab</a:t>
            </a:r>
            <a:r>
              <a:rPr lang="en-IN" sz="3600" dirty="0"/>
              <a:t>.</a:t>
            </a:r>
          </a:p>
          <a:p>
            <a:pPr marL="514350" indent="-514350">
              <a:buAutoNum type="arabicPeriod"/>
            </a:pPr>
            <a:r>
              <a:rPr lang="en-IN" sz="3600" b="1" dirty="0"/>
              <a:t>Frameworks &amp; Libraries</a:t>
            </a:r>
            <a:r>
              <a:rPr lang="en-IN" sz="3600" dirty="0"/>
              <a:t>: TensorFlow, </a:t>
            </a:r>
            <a:r>
              <a:rPr lang="en-IN" sz="3600" dirty="0" err="1"/>
              <a:t>Keras</a:t>
            </a:r>
            <a:r>
              <a:rPr lang="en-IN" sz="3600" dirty="0"/>
              <a:t>, NumPy, Pandas, Matplotlib.</a:t>
            </a:r>
          </a:p>
          <a:p>
            <a:pPr marL="514350" indent="-514350">
              <a:buAutoNum type="arabicPeriod"/>
            </a:pPr>
            <a:r>
              <a:rPr lang="en-IN" sz="3600" b="1" dirty="0"/>
              <a:t>Dataset Handling</a:t>
            </a:r>
            <a:r>
              <a:rPr lang="en-IN" sz="3600" dirty="0"/>
              <a:t>: OpenCV, PIL.</a:t>
            </a:r>
          </a:p>
          <a:p>
            <a:pPr marL="514350" indent="-514350">
              <a:buAutoNum type="arabicPeriod"/>
            </a:pPr>
            <a:r>
              <a:rPr lang="en-US" sz="3600" b="1" dirty="0"/>
              <a:t>Operating System</a:t>
            </a:r>
            <a:r>
              <a:rPr lang="en-US" sz="3600" dirty="0"/>
              <a:t>: Kali Linux &amp; Windows.</a:t>
            </a:r>
            <a:endParaRPr lang="en-IN" sz="3600" b="1" dirty="0">
              <a:solidFill>
                <a:srgbClr val="213163"/>
              </a:solidFill>
            </a:endParaRPr>
          </a:p>
          <a:p>
            <a:r>
              <a:rPr lang="en-IN" sz="3600" b="1" dirty="0">
                <a:solidFill>
                  <a:srgbClr val="213163"/>
                </a:solidFill>
              </a:rPr>
              <a:t> </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1359888"/>
            <a:ext cx="12279086" cy="4585871"/>
          </a:xfrm>
          <a:prstGeom prst="rect">
            <a:avLst/>
          </a:prstGeom>
          <a:noFill/>
        </p:spPr>
        <p:txBody>
          <a:bodyPr wrap="square">
            <a:spAutoFit/>
          </a:bodyPr>
          <a:lstStyle/>
          <a:p>
            <a:r>
              <a:rPr lang="en-US" sz="4000" b="1" u="sng" dirty="0">
                <a:solidFill>
                  <a:srgbClr val="213163"/>
                </a:solidFill>
                <a:effectLst>
                  <a:outerShdw blurRad="38100" dist="38100" dir="2700000" algn="tl">
                    <a:srgbClr val="000000">
                      <a:alpha val="43137"/>
                    </a:srgbClr>
                  </a:outerShdw>
                </a:effectLst>
              </a:rPr>
              <a:t>METHODOLOGY:</a:t>
            </a:r>
          </a:p>
          <a:p>
            <a:pPr marL="342900" indent="-342900">
              <a:buAutoNum type="arabicPeriod"/>
            </a:pPr>
            <a:r>
              <a:rPr lang="en-US" sz="2800" b="1" dirty="0"/>
              <a:t>Dataset Download</a:t>
            </a:r>
            <a:r>
              <a:rPr lang="en-US" sz="2800" dirty="0"/>
              <a:t> – Downloaded a pre-existing dataset of plastic waste images.</a:t>
            </a:r>
            <a:endParaRPr lang="en-US" sz="2800" b="1" dirty="0">
              <a:solidFill>
                <a:srgbClr val="213163"/>
              </a:solidFill>
            </a:endParaRPr>
          </a:p>
          <a:p>
            <a:pPr marL="342900" indent="-342900">
              <a:buAutoNum type="arabicPeriod"/>
            </a:pPr>
            <a:r>
              <a:rPr lang="en-US" sz="2800" b="1" dirty="0"/>
              <a:t>Data Preprocessing</a:t>
            </a:r>
            <a:r>
              <a:rPr lang="en-US" sz="2800" dirty="0"/>
              <a:t> – Resized, normalized, and augmented images for better model performance.</a:t>
            </a:r>
            <a:endParaRPr lang="en-US" sz="2800" b="1" dirty="0">
              <a:solidFill>
                <a:srgbClr val="213163"/>
              </a:solidFill>
            </a:endParaRPr>
          </a:p>
          <a:p>
            <a:pPr marL="342900" indent="-342900">
              <a:buAutoNum type="arabicPeriod"/>
            </a:pPr>
            <a:r>
              <a:rPr lang="en-US" sz="2800" b="1" dirty="0"/>
              <a:t>Model Development</a:t>
            </a:r>
            <a:r>
              <a:rPr lang="en-US" sz="2800" dirty="0"/>
              <a:t> – Built a CNN architecture using TensorFlow/</a:t>
            </a:r>
            <a:r>
              <a:rPr lang="en-US" sz="2800" dirty="0" err="1"/>
              <a:t>Keras</a:t>
            </a:r>
            <a:r>
              <a:rPr lang="en-US" sz="2800" b="1" dirty="0">
                <a:solidFill>
                  <a:srgbClr val="213163"/>
                </a:solidFill>
              </a:rPr>
              <a:t>.</a:t>
            </a:r>
          </a:p>
          <a:p>
            <a:pPr marL="342900" indent="-342900">
              <a:buAutoNum type="arabicPeriod"/>
            </a:pPr>
            <a:r>
              <a:rPr lang="en-US" sz="2800" b="1" dirty="0"/>
              <a:t>Training &amp; Testing</a:t>
            </a:r>
            <a:r>
              <a:rPr lang="en-US" sz="2800" dirty="0"/>
              <a:t> – Trained the model with labeled data and evaluated its accuracy.</a:t>
            </a:r>
            <a:endParaRPr lang="en-US" sz="2800" b="1" dirty="0">
              <a:solidFill>
                <a:srgbClr val="213163"/>
              </a:solidFill>
            </a:endParaRPr>
          </a:p>
          <a:p>
            <a:pPr marL="342900" indent="-342900">
              <a:buAutoNum type="arabicPeriod"/>
            </a:pPr>
            <a:r>
              <a:rPr lang="en-US" sz="2800" b="1" dirty="0"/>
              <a:t>Performance Analysis</a:t>
            </a:r>
            <a:r>
              <a:rPr lang="en-US" sz="2800" dirty="0"/>
              <a:t> – Measured accuracy, loss, and optimized the model.</a:t>
            </a:r>
            <a:r>
              <a:rPr lang="en-US" sz="2800" b="1" dirty="0">
                <a:solidFill>
                  <a:srgbClr val="213163"/>
                </a:solidFill>
              </a:rPr>
              <a:t> </a:t>
            </a:r>
            <a:endParaRPr lang="en-IN" sz="2800" dirty="0">
              <a:solidFill>
                <a:srgbClr val="213163"/>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1091734"/>
            <a:ext cx="12192000" cy="5386090"/>
          </a:xfrm>
          <a:prstGeom prst="rect">
            <a:avLst/>
          </a:prstGeom>
          <a:noFill/>
        </p:spPr>
        <p:txBody>
          <a:bodyPr wrap="square">
            <a:spAutoFit/>
          </a:bodyPr>
          <a:lstStyle/>
          <a:p>
            <a:r>
              <a:rPr lang="en-US" sz="4000" b="1" u="sng" dirty="0">
                <a:solidFill>
                  <a:srgbClr val="002060"/>
                </a:solidFill>
                <a:effectLst>
                  <a:outerShdw blurRad="38100" dist="38100" dir="2700000" algn="tl">
                    <a:srgbClr val="000000">
                      <a:alpha val="43137"/>
                    </a:srgbClr>
                  </a:outerShdw>
                </a:effectLst>
              </a:rPr>
              <a:t>PROBLEM STATEMENT:</a:t>
            </a:r>
            <a:endParaRPr lang="en-US" sz="4000" u="sng" dirty="0">
              <a:solidFill>
                <a:srgbClr val="002060"/>
              </a:solidFill>
              <a:effectLst>
                <a:outerShdw blurRad="38100" dist="38100" dir="2700000" algn="tl">
                  <a:srgbClr val="000000">
                    <a:alpha val="43137"/>
                  </a:srgbClr>
                </a:outerShdw>
              </a:effectLst>
            </a:endParaRPr>
          </a:p>
          <a:p>
            <a:r>
              <a:rPr lang="en-US" sz="3800" dirty="0"/>
              <a:t>1. Plastic waste pollution is a serious environmental problem, causing harm to land and water. Sorting plastic waste manually is slow, labor-intensive, and prone to mistakes.</a:t>
            </a:r>
          </a:p>
          <a:p>
            <a:r>
              <a:rPr lang="en-US" sz="3800" dirty="0"/>
              <a:t>2. This project aims to create a CNN-based model that automatically classifies plastic waste from images, improving sorting speed and accuracy, and helping in better recycling and reducing pollution.</a:t>
            </a: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1203702"/>
            <a:ext cx="12192000" cy="5447645"/>
          </a:xfrm>
          <a:prstGeom prst="rect">
            <a:avLst/>
          </a:prstGeom>
          <a:noFill/>
        </p:spPr>
        <p:txBody>
          <a:bodyPr wrap="square">
            <a:spAutoFit/>
          </a:bodyPr>
          <a:lstStyle/>
          <a:p>
            <a:r>
              <a:rPr lang="en-US" sz="4000" b="1" u="sng" dirty="0">
                <a:solidFill>
                  <a:srgbClr val="002060"/>
                </a:solidFill>
                <a:effectLst>
                  <a:outerShdw blurRad="38100" dist="38100" dir="2700000" algn="tl">
                    <a:srgbClr val="000000">
                      <a:alpha val="43137"/>
                    </a:srgbClr>
                  </a:outerShdw>
                </a:effectLst>
              </a:rPr>
              <a:t>SOLUTION:</a:t>
            </a:r>
            <a:endParaRPr lang="en-US" sz="4000" u="sng" dirty="0">
              <a:solidFill>
                <a:srgbClr val="002060"/>
              </a:solidFill>
              <a:effectLst>
                <a:outerShdw blurRad="38100" dist="38100" dir="2700000" algn="tl">
                  <a:srgbClr val="000000">
                    <a:alpha val="43137"/>
                  </a:srgbClr>
                </a:outerShdw>
              </a:effectLst>
            </a:endParaRPr>
          </a:p>
          <a:p>
            <a:r>
              <a:rPr lang="en-US" sz="3600" dirty="0"/>
              <a:t>1. We developed a CNN model to automatically classify plastic waste from images. By training the model with a dataset of plastic waste images, it learns to identify different types of plastic.</a:t>
            </a:r>
          </a:p>
          <a:p>
            <a:endParaRPr lang="en-US" sz="3600" dirty="0"/>
          </a:p>
          <a:p>
            <a:r>
              <a:rPr lang="en-US" sz="3600" dirty="0"/>
              <a:t>2. This system speeds up waste sorting, improves accuracy, and supports better recycling, helping reduce environmental impact.</a:t>
            </a:r>
          </a:p>
          <a:p>
            <a:r>
              <a:rPr lang="en-US" sz="2000" b="1" dirty="0">
                <a:solidFill>
                  <a:srgbClr val="213163"/>
                </a:solidFill>
              </a:rPr>
              <a:t> </a:t>
            </a:r>
            <a:endParaRPr lang="en-IN" sz="20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24624" y="820732"/>
            <a:ext cx="6102626" cy="461665"/>
          </a:xfrm>
          <a:prstGeom prst="rect">
            <a:avLst/>
          </a:prstGeom>
          <a:noFill/>
        </p:spPr>
        <p:txBody>
          <a:bodyPr wrap="square">
            <a:spAutoFit/>
          </a:bodyPr>
          <a:lstStyle/>
          <a:p>
            <a:r>
              <a:rPr lang="en-US" sz="2400" b="1" u="sng" dirty="0">
                <a:solidFill>
                  <a:srgbClr val="213163"/>
                </a:solidFill>
                <a:effectLst>
                  <a:outerShdw blurRad="38100" dist="38100" dir="2700000" algn="tl">
                    <a:srgbClr val="000000">
                      <a:alpha val="43137"/>
                    </a:srgbClr>
                  </a:outerShdw>
                </a:effectLst>
              </a:rPr>
              <a:t>SCREENSHOT OF THE OUTPUT:</a:t>
            </a:r>
            <a:r>
              <a:rPr lang="en-US" sz="2400" b="1" dirty="0">
                <a:solidFill>
                  <a:srgbClr val="213163"/>
                </a:solidFill>
              </a:rPr>
              <a:t> </a:t>
            </a:r>
            <a:endParaRPr lang="en-IN" sz="2400" b="1" dirty="0">
              <a:solidFill>
                <a:srgbClr val="213163"/>
              </a:solidFill>
            </a:endParaRPr>
          </a:p>
        </p:txBody>
      </p:sp>
      <p:pic>
        <p:nvPicPr>
          <p:cNvPr id="12" name="Picture 11">
            <a:extLst>
              <a:ext uri="{FF2B5EF4-FFF2-40B4-BE49-F238E27FC236}">
                <a16:creationId xmlns:a16="http://schemas.microsoft.com/office/drawing/2014/main" id="{1B38CD1F-9292-A419-7CC6-40A0092AAD9E}"/>
              </a:ext>
            </a:extLst>
          </p:cNvPr>
          <p:cNvPicPr>
            <a:picLocks noChangeAspect="1"/>
          </p:cNvPicPr>
          <p:nvPr/>
        </p:nvPicPr>
        <p:blipFill>
          <a:blip r:embed="rId2"/>
          <a:stretch>
            <a:fillRect/>
          </a:stretch>
        </p:blipFill>
        <p:spPr>
          <a:xfrm>
            <a:off x="442513" y="1323037"/>
            <a:ext cx="3657599" cy="2425960"/>
          </a:xfrm>
          <a:prstGeom prst="rect">
            <a:avLst/>
          </a:prstGeom>
        </p:spPr>
      </p:pic>
      <p:pic>
        <p:nvPicPr>
          <p:cNvPr id="14" name="Picture 13">
            <a:extLst>
              <a:ext uri="{FF2B5EF4-FFF2-40B4-BE49-F238E27FC236}">
                <a16:creationId xmlns:a16="http://schemas.microsoft.com/office/drawing/2014/main" id="{C49EF022-FB10-B609-0648-DE5D4B8F5079}"/>
              </a:ext>
            </a:extLst>
          </p:cNvPr>
          <p:cNvPicPr>
            <a:picLocks noChangeAspect="1"/>
          </p:cNvPicPr>
          <p:nvPr/>
        </p:nvPicPr>
        <p:blipFill>
          <a:blip r:embed="rId3"/>
          <a:stretch>
            <a:fillRect/>
          </a:stretch>
        </p:blipFill>
        <p:spPr>
          <a:xfrm>
            <a:off x="8318603" y="1323037"/>
            <a:ext cx="3657599" cy="2425960"/>
          </a:xfrm>
          <a:prstGeom prst="rect">
            <a:avLst/>
          </a:prstGeom>
        </p:spPr>
      </p:pic>
      <p:pic>
        <p:nvPicPr>
          <p:cNvPr id="16" name="Picture 15">
            <a:extLst>
              <a:ext uri="{FF2B5EF4-FFF2-40B4-BE49-F238E27FC236}">
                <a16:creationId xmlns:a16="http://schemas.microsoft.com/office/drawing/2014/main" id="{57C2C373-D49F-A963-509F-FFED3D97AC33}"/>
              </a:ext>
            </a:extLst>
          </p:cNvPr>
          <p:cNvPicPr>
            <a:picLocks noChangeAspect="1"/>
          </p:cNvPicPr>
          <p:nvPr/>
        </p:nvPicPr>
        <p:blipFill>
          <a:blip r:embed="rId4"/>
          <a:stretch>
            <a:fillRect/>
          </a:stretch>
        </p:blipFill>
        <p:spPr>
          <a:xfrm>
            <a:off x="4318000" y="1333197"/>
            <a:ext cx="3657599" cy="2425960"/>
          </a:xfrm>
          <a:prstGeom prst="rect">
            <a:avLst/>
          </a:prstGeom>
        </p:spPr>
      </p:pic>
      <p:pic>
        <p:nvPicPr>
          <p:cNvPr id="18" name="Picture 17">
            <a:extLst>
              <a:ext uri="{FF2B5EF4-FFF2-40B4-BE49-F238E27FC236}">
                <a16:creationId xmlns:a16="http://schemas.microsoft.com/office/drawing/2014/main" id="{EB6375FA-2EEF-C211-2D77-C9C31FD65F8C}"/>
              </a:ext>
            </a:extLst>
          </p:cNvPr>
          <p:cNvPicPr>
            <a:picLocks noChangeAspect="1"/>
          </p:cNvPicPr>
          <p:nvPr/>
        </p:nvPicPr>
        <p:blipFill>
          <a:blip r:embed="rId5"/>
          <a:stretch>
            <a:fillRect/>
          </a:stretch>
        </p:blipFill>
        <p:spPr>
          <a:xfrm>
            <a:off x="4318000" y="4078582"/>
            <a:ext cx="3657599" cy="2425960"/>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988150"/>
            <a:ext cx="12192000" cy="5786199"/>
          </a:xfrm>
          <a:prstGeom prst="rect">
            <a:avLst/>
          </a:prstGeom>
          <a:noFill/>
        </p:spPr>
        <p:txBody>
          <a:bodyPr wrap="square">
            <a:spAutoFit/>
          </a:bodyPr>
          <a:lstStyle/>
          <a:p>
            <a:r>
              <a:rPr lang="en-US" sz="4000" b="1" u="sng" dirty="0">
                <a:solidFill>
                  <a:srgbClr val="002060"/>
                </a:solidFill>
                <a:effectLst>
                  <a:outerShdw blurRad="38100" dist="38100" dir="2700000" algn="tl">
                    <a:srgbClr val="000000">
                      <a:alpha val="43137"/>
                    </a:srgbClr>
                  </a:outerShdw>
                </a:effectLst>
              </a:rPr>
              <a:t>CONCLUSION:</a:t>
            </a:r>
          </a:p>
          <a:p>
            <a:r>
              <a:rPr lang="en-US" sz="2800" dirty="0"/>
              <a:t>1. This project demonstrates the potential of Convolutional Neural Networks (CNNs) in automating the classification of plastic waste. By using deep learning, we can significantly improve the speed and accuracy of waste sorting, enhancing recycling processes.</a:t>
            </a:r>
          </a:p>
          <a:p>
            <a:endParaRPr lang="en-US" sz="2800" dirty="0"/>
          </a:p>
          <a:p>
            <a:r>
              <a:rPr lang="en-US" sz="2800" dirty="0"/>
              <a:t>2. The model can be further optimized and deployed for real-world use, contributing to more efficient waste management systems and supporting environmental sustainability by reducing plastic pollution.</a:t>
            </a:r>
          </a:p>
          <a:p>
            <a:r>
              <a:rPr lang="en-US" sz="2800" b="1" dirty="0">
                <a:solidFill>
                  <a:srgbClr val="002060"/>
                </a:solidFill>
              </a:rPr>
              <a:t>                                       </a:t>
            </a:r>
          </a:p>
          <a:p>
            <a:r>
              <a:rPr lang="en-US" sz="2800" b="1" dirty="0">
                <a:solidFill>
                  <a:srgbClr val="002060"/>
                </a:solidFill>
              </a:rPr>
              <a:t>                               </a:t>
            </a:r>
            <a:r>
              <a:rPr lang="en-US" sz="5000" b="1" dirty="0">
                <a:solidFill>
                  <a:srgbClr val="002060"/>
                </a:solidFill>
              </a:rPr>
              <a:t>THANKING YOU…</a:t>
            </a:r>
          </a:p>
          <a:p>
            <a:endParaRPr lang="en-IN" sz="28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71</TotalTime>
  <Words>409</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Mohanraj V</cp:lastModifiedBy>
  <cp:revision>5</cp:revision>
  <dcterms:created xsi:type="dcterms:W3CDTF">2024-12-31T09:40:01Z</dcterms:created>
  <dcterms:modified xsi:type="dcterms:W3CDTF">2025-02-06T14:51:45Z</dcterms:modified>
</cp:coreProperties>
</file>